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webp" ContentType="image/webp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sldIdLst>
    <p:sldId id="256" r:id="rId2"/>
    <p:sldId id="310" r:id="rId3"/>
    <p:sldId id="301" r:id="rId4"/>
    <p:sldId id="266" r:id="rId5"/>
    <p:sldId id="267" r:id="rId6"/>
    <p:sldId id="296" r:id="rId7"/>
    <p:sldId id="268" r:id="rId8"/>
    <p:sldId id="307" r:id="rId9"/>
    <p:sldId id="312" r:id="rId10"/>
    <p:sldId id="270" r:id="rId11"/>
    <p:sldId id="313" r:id="rId12"/>
    <p:sldId id="269" r:id="rId13"/>
    <p:sldId id="271" r:id="rId14"/>
    <p:sldId id="297" r:id="rId15"/>
    <p:sldId id="272" r:id="rId16"/>
    <p:sldId id="298" r:id="rId17"/>
    <p:sldId id="299" r:id="rId18"/>
    <p:sldId id="308" r:id="rId19"/>
    <p:sldId id="309" r:id="rId20"/>
    <p:sldId id="303" r:id="rId21"/>
    <p:sldId id="304" r:id="rId22"/>
    <p:sldId id="305" r:id="rId23"/>
    <p:sldId id="306" r:id="rId24"/>
    <p:sldId id="314" r:id="rId25"/>
    <p:sldId id="311" r:id="rId26"/>
  </p:sldIdLst>
  <p:sldSz cx="18288000" cy="10287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Montserrat Bold" panose="020B0604020202020204" charset="0"/>
      <p:regular r:id="rId31"/>
    </p:embeddedFont>
    <p:embeddedFont>
      <p:font typeface="Bahnschrift SemiBold SemiConden" panose="020B0502040204020203" pitchFamily="34" charset="0"/>
      <p:bold r:id="rId32"/>
    </p:embeddedFont>
    <p:embeddedFont>
      <p:font typeface="Helios" panose="020B0604020202020204" charset="0"/>
      <p:regular r:id="rId33"/>
    </p:embeddedFont>
    <p:embeddedFont>
      <p:font typeface="Object Sans" panose="020B0604020202020204" charset="0"/>
      <p:regular r:id="rId34"/>
    </p:embeddedFont>
    <p:embeddedFont>
      <p:font typeface="Object Sans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image" Target="../media/image5.jpg"/><Relationship Id="rId4" Type="http://schemas.openxmlformats.org/officeDocument/2006/relationships/image" Target="../media/image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image" Target="../media/image5.jpg"/><Relationship Id="rId4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FBCC5B-7936-462F-B5FF-CAE7D6A95F67}" type="doc">
      <dgm:prSet loTypeId="urn:microsoft.com/office/officeart/2005/8/layout/pList1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20EF59-2455-4D0F-BA79-22BF86781F8F}">
      <dgm:prSet phldrT="[Text]" custT="1"/>
      <dgm:spPr/>
      <dgm:t>
        <a:bodyPr/>
        <a:lstStyle/>
        <a:p>
          <a:r>
            <a:rPr lang="en-GB" sz="3200" dirty="0" err="1" smtClean="0"/>
            <a:t>Aashish</a:t>
          </a:r>
          <a:r>
            <a:rPr lang="en-GB" sz="3200" dirty="0" smtClean="0"/>
            <a:t> </a:t>
          </a:r>
          <a:r>
            <a:rPr lang="en-GB" sz="3200" dirty="0" err="1" smtClean="0"/>
            <a:t>Regmi</a:t>
          </a:r>
          <a:endParaRPr lang="en-GB" sz="3200" dirty="0" smtClean="0"/>
        </a:p>
        <a:p>
          <a:r>
            <a:rPr lang="en-US" sz="3200" b="0" dirty="0" smtClean="0"/>
            <a:t>(22070088)</a:t>
          </a:r>
          <a:endParaRPr lang="en-GB" sz="3200" b="0" dirty="0" smtClean="0"/>
        </a:p>
        <a:p>
          <a:endParaRPr lang="en-US" sz="3200" dirty="0"/>
        </a:p>
      </dgm:t>
    </dgm:pt>
    <dgm:pt modelId="{B2736EA2-F340-4AF9-B2D7-473DE0494152}" type="parTrans" cxnId="{62DE079C-8183-4DA0-8DD2-8AF69549C402}">
      <dgm:prSet/>
      <dgm:spPr/>
      <dgm:t>
        <a:bodyPr/>
        <a:lstStyle/>
        <a:p>
          <a:endParaRPr lang="en-US"/>
        </a:p>
      </dgm:t>
    </dgm:pt>
    <dgm:pt modelId="{9A481E1F-4A47-4365-81A2-7F8146F1DA8E}" type="sibTrans" cxnId="{62DE079C-8183-4DA0-8DD2-8AF69549C402}">
      <dgm:prSet/>
      <dgm:spPr/>
      <dgm:t>
        <a:bodyPr/>
        <a:lstStyle/>
        <a:p>
          <a:endParaRPr lang="en-US"/>
        </a:p>
      </dgm:t>
    </dgm:pt>
    <dgm:pt modelId="{B21DDCF5-C16E-482A-A3D6-93863506C763}">
      <dgm:prSet phldrT="[Text]" custT="1"/>
      <dgm:spPr/>
      <dgm:t>
        <a:bodyPr/>
        <a:lstStyle/>
        <a:p>
          <a:r>
            <a:rPr lang="en-GB" sz="3200" dirty="0" err="1" smtClean="0"/>
            <a:t>Ayush</a:t>
          </a:r>
          <a:r>
            <a:rPr lang="en-GB" sz="3200" dirty="0" smtClean="0"/>
            <a:t> Shrestha</a:t>
          </a:r>
        </a:p>
        <a:p>
          <a:r>
            <a:rPr lang="en-US" sz="3200" b="0" dirty="0" smtClean="0"/>
            <a:t>(22070092)</a:t>
          </a:r>
          <a:endParaRPr lang="en-GB" sz="3200" dirty="0" smtClean="0"/>
        </a:p>
      </dgm:t>
    </dgm:pt>
    <dgm:pt modelId="{A0F2975B-8EE7-4946-A086-16F3F0334F73}" type="parTrans" cxnId="{D3C86563-1465-41F7-97B4-0FC98F3AB439}">
      <dgm:prSet/>
      <dgm:spPr/>
      <dgm:t>
        <a:bodyPr/>
        <a:lstStyle/>
        <a:p>
          <a:endParaRPr lang="en-US"/>
        </a:p>
      </dgm:t>
    </dgm:pt>
    <dgm:pt modelId="{1348F1D6-98A6-4348-B368-91B703D5D0DE}" type="sibTrans" cxnId="{D3C86563-1465-41F7-97B4-0FC98F3AB439}">
      <dgm:prSet/>
      <dgm:spPr/>
      <dgm:t>
        <a:bodyPr/>
        <a:lstStyle/>
        <a:p>
          <a:endParaRPr lang="en-US"/>
        </a:p>
      </dgm:t>
    </dgm:pt>
    <dgm:pt modelId="{4FD9169D-9175-42F9-9150-335B92581AF8}">
      <dgm:prSet phldrT="[Text]" custT="1"/>
      <dgm:spPr/>
      <dgm:t>
        <a:bodyPr/>
        <a:lstStyle/>
        <a:p>
          <a:r>
            <a:rPr lang="en-GB" sz="3200" dirty="0" smtClean="0"/>
            <a:t>Dixit Shrestha</a:t>
          </a:r>
        </a:p>
        <a:p>
          <a:r>
            <a:rPr lang="en-US" sz="3200" b="0" dirty="0" smtClean="0"/>
            <a:t>(22070098)</a:t>
          </a:r>
          <a:endParaRPr lang="en-US" sz="3200" b="0" dirty="0"/>
        </a:p>
      </dgm:t>
    </dgm:pt>
    <dgm:pt modelId="{51492150-2585-43F8-B8D4-B6A3B3B566CF}" type="parTrans" cxnId="{F4E36A6D-84C1-4CEF-B56C-97F9656F5921}">
      <dgm:prSet/>
      <dgm:spPr/>
      <dgm:t>
        <a:bodyPr/>
        <a:lstStyle/>
        <a:p>
          <a:endParaRPr lang="en-US"/>
        </a:p>
      </dgm:t>
    </dgm:pt>
    <dgm:pt modelId="{76D7E6AB-D85C-4975-B152-CDC472403E54}" type="sibTrans" cxnId="{F4E36A6D-84C1-4CEF-B56C-97F9656F5921}">
      <dgm:prSet/>
      <dgm:spPr/>
      <dgm:t>
        <a:bodyPr/>
        <a:lstStyle/>
        <a:p>
          <a:endParaRPr lang="en-US"/>
        </a:p>
      </dgm:t>
    </dgm:pt>
    <dgm:pt modelId="{7F937774-085A-413E-8943-381AB47FE780}">
      <dgm:prSet phldrT="[Text]" custT="1"/>
      <dgm:spPr/>
      <dgm:t>
        <a:bodyPr/>
        <a:lstStyle/>
        <a:p>
          <a:r>
            <a:rPr lang="en-GB" sz="3200" dirty="0" err="1" smtClean="0"/>
            <a:t>Sonish</a:t>
          </a:r>
          <a:r>
            <a:rPr lang="en-GB" sz="3200" dirty="0" smtClean="0"/>
            <a:t> </a:t>
          </a:r>
          <a:r>
            <a:rPr lang="en-GB" sz="3200" dirty="0" err="1" smtClean="0"/>
            <a:t>Lohani</a:t>
          </a:r>
          <a:endParaRPr lang="en-GB" sz="3200" dirty="0" smtClean="0"/>
        </a:p>
        <a:p>
          <a:r>
            <a:rPr lang="en-US" sz="3200" b="0" dirty="0" smtClean="0"/>
            <a:t>(21075549)</a:t>
          </a:r>
          <a:endParaRPr lang="en-US" sz="3200" b="0" dirty="0"/>
        </a:p>
      </dgm:t>
    </dgm:pt>
    <dgm:pt modelId="{6BF5D74D-1222-4BCA-AA8E-666AA9BA433B}" type="parTrans" cxnId="{29137EBD-B2EA-44A9-BAAE-17A5B2A3E3C2}">
      <dgm:prSet/>
      <dgm:spPr/>
      <dgm:t>
        <a:bodyPr/>
        <a:lstStyle/>
        <a:p>
          <a:endParaRPr lang="en-US"/>
        </a:p>
      </dgm:t>
    </dgm:pt>
    <dgm:pt modelId="{129D5F89-0B25-48D2-B12F-0AAD987D0D43}" type="sibTrans" cxnId="{29137EBD-B2EA-44A9-BAAE-17A5B2A3E3C2}">
      <dgm:prSet/>
      <dgm:spPr/>
      <dgm:t>
        <a:bodyPr/>
        <a:lstStyle/>
        <a:p>
          <a:endParaRPr lang="en-US"/>
        </a:p>
      </dgm:t>
    </dgm:pt>
    <dgm:pt modelId="{5BB82BC1-849A-4769-99EC-7EA7E3C5B566}" type="pres">
      <dgm:prSet presAssocID="{AEFBCC5B-7936-462F-B5FF-CAE7D6A95F67}" presName="Name0" presStyleCnt="0">
        <dgm:presLayoutVars>
          <dgm:dir/>
          <dgm:resizeHandles val="exact"/>
        </dgm:presLayoutVars>
      </dgm:prSet>
      <dgm:spPr/>
    </dgm:pt>
    <dgm:pt modelId="{5C58E3CD-BCAE-4E4F-9E7E-ADCFACBED989}" type="pres">
      <dgm:prSet presAssocID="{3820EF59-2455-4D0F-BA79-22BF86781F8F}" presName="compNode" presStyleCnt="0"/>
      <dgm:spPr/>
    </dgm:pt>
    <dgm:pt modelId="{37A8464E-0DA0-4C76-BEFF-69DB3DAF21F1}" type="pres">
      <dgm:prSet presAssocID="{3820EF59-2455-4D0F-BA79-22BF86781F8F}" presName="pict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35F24B2A-2665-4324-BE9A-F955316D0D19}" type="pres">
      <dgm:prSet presAssocID="{3820EF59-2455-4D0F-BA79-22BF86781F8F}" presName="textRec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E948D0-4052-4CA3-851C-55518BC46122}" type="pres">
      <dgm:prSet presAssocID="{9A481E1F-4A47-4365-81A2-7F8146F1DA8E}" presName="sibTrans" presStyleLbl="sibTrans2D1" presStyleIdx="0" presStyleCnt="0"/>
      <dgm:spPr/>
    </dgm:pt>
    <dgm:pt modelId="{2498DD62-D99E-49FD-8298-4951764E3EA6}" type="pres">
      <dgm:prSet presAssocID="{B21DDCF5-C16E-482A-A3D6-93863506C763}" presName="compNode" presStyleCnt="0"/>
      <dgm:spPr/>
    </dgm:pt>
    <dgm:pt modelId="{4AB8F1BC-520F-4665-A878-704EC83EBB63}" type="pres">
      <dgm:prSet presAssocID="{B21DDCF5-C16E-482A-A3D6-93863506C763}" presName="pictRect" presStyleLbl="nod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7000" b="-67000"/>
          </a:stretch>
        </a:blipFill>
      </dgm:spPr>
    </dgm:pt>
    <dgm:pt modelId="{326FF919-CA2E-43E1-BCA2-CE21DB670725}" type="pres">
      <dgm:prSet presAssocID="{B21DDCF5-C16E-482A-A3D6-93863506C763}" presName="textRec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9D0A06-4EA4-42B7-A520-32CA8063BFA4}" type="pres">
      <dgm:prSet presAssocID="{1348F1D6-98A6-4348-B368-91B703D5D0DE}" presName="sibTrans" presStyleLbl="sibTrans2D1" presStyleIdx="0" presStyleCnt="0"/>
      <dgm:spPr/>
    </dgm:pt>
    <dgm:pt modelId="{D2AD08BD-A200-4449-B8A3-9743839BE649}" type="pres">
      <dgm:prSet presAssocID="{4FD9169D-9175-42F9-9150-335B92581AF8}" presName="compNode" presStyleCnt="0"/>
      <dgm:spPr/>
    </dgm:pt>
    <dgm:pt modelId="{BC9C0109-BBE3-43E5-8AC0-6B6515698ED2}" type="pres">
      <dgm:prSet presAssocID="{4FD9169D-9175-42F9-9150-335B92581AF8}" presName="pictRect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4000" b="-54000"/>
          </a:stretch>
        </a:blipFill>
      </dgm:spPr>
    </dgm:pt>
    <dgm:pt modelId="{82765DA4-D899-4EDE-9267-A6551A22B979}" type="pres">
      <dgm:prSet presAssocID="{4FD9169D-9175-42F9-9150-335B92581AF8}" presName="textRec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DA7DEA-8F81-4C6F-8B7E-815730A0D7F0}" type="pres">
      <dgm:prSet presAssocID="{76D7E6AB-D85C-4975-B152-CDC472403E54}" presName="sibTrans" presStyleLbl="sibTrans2D1" presStyleIdx="0" presStyleCnt="0"/>
      <dgm:spPr/>
    </dgm:pt>
    <dgm:pt modelId="{CEEB18E3-AE63-400B-9AD9-3DF0BABED7A1}" type="pres">
      <dgm:prSet presAssocID="{7F937774-085A-413E-8943-381AB47FE780}" presName="compNode" presStyleCnt="0"/>
      <dgm:spPr/>
    </dgm:pt>
    <dgm:pt modelId="{18C744FF-CF23-4C09-BAE8-F3987F4BDD34}" type="pres">
      <dgm:prSet presAssocID="{7F937774-085A-413E-8943-381AB47FE780}" presName="pictRect" presStyleLbl="nod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4E85F717-023E-45F9-9547-B96A7A8325AA}" type="pres">
      <dgm:prSet presAssocID="{7F937774-085A-413E-8943-381AB47FE780}" presName="textRec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824C83-8E7E-4E69-87A4-E45F9D646698}" type="presOf" srcId="{4FD9169D-9175-42F9-9150-335B92581AF8}" destId="{82765DA4-D899-4EDE-9267-A6551A22B979}" srcOrd="0" destOrd="0" presId="urn:microsoft.com/office/officeart/2005/8/layout/pList1"/>
    <dgm:cxn modelId="{0B49E0A2-60B4-4D1A-AAF3-26297C423C10}" type="presOf" srcId="{76D7E6AB-D85C-4975-B152-CDC472403E54}" destId="{99DA7DEA-8F81-4C6F-8B7E-815730A0D7F0}" srcOrd="0" destOrd="0" presId="urn:microsoft.com/office/officeart/2005/8/layout/pList1"/>
    <dgm:cxn modelId="{59B0FF38-4959-43D9-A549-D4F0C9DF76CB}" type="presOf" srcId="{AEFBCC5B-7936-462F-B5FF-CAE7D6A95F67}" destId="{5BB82BC1-849A-4769-99EC-7EA7E3C5B566}" srcOrd="0" destOrd="0" presId="urn:microsoft.com/office/officeart/2005/8/layout/pList1"/>
    <dgm:cxn modelId="{F4E36A6D-84C1-4CEF-B56C-97F9656F5921}" srcId="{AEFBCC5B-7936-462F-B5FF-CAE7D6A95F67}" destId="{4FD9169D-9175-42F9-9150-335B92581AF8}" srcOrd="2" destOrd="0" parTransId="{51492150-2585-43F8-B8D4-B6A3B3B566CF}" sibTransId="{76D7E6AB-D85C-4975-B152-CDC472403E54}"/>
    <dgm:cxn modelId="{5B452DAD-5E19-4ACE-ACA5-B268885CEC52}" type="presOf" srcId="{1348F1D6-98A6-4348-B368-91B703D5D0DE}" destId="{E99D0A06-4EA4-42B7-A520-32CA8063BFA4}" srcOrd="0" destOrd="0" presId="urn:microsoft.com/office/officeart/2005/8/layout/pList1"/>
    <dgm:cxn modelId="{FC8F4082-5D30-4462-B6D3-1F871686091F}" type="presOf" srcId="{9A481E1F-4A47-4365-81A2-7F8146F1DA8E}" destId="{15E948D0-4052-4CA3-851C-55518BC46122}" srcOrd="0" destOrd="0" presId="urn:microsoft.com/office/officeart/2005/8/layout/pList1"/>
    <dgm:cxn modelId="{B0C5A2C0-0BCD-4AE3-A4CC-45C9C3D75509}" type="presOf" srcId="{B21DDCF5-C16E-482A-A3D6-93863506C763}" destId="{326FF919-CA2E-43E1-BCA2-CE21DB670725}" srcOrd="0" destOrd="0" presId="urn:microsoft.com/office/officeart/2005/8/layout/pList1"/>
    <dgm:cxn modelId="{E69CBEF5-3DE0-414F-8BEB-2E7F77451765}" type="presOf" srcId="{3820EF59-2455-4D0F-BA79-22BF86781F8F}" destId="{35F24B2A-2665-4324-BE9A-F955316D0D19}" srcOrd="0" destOrd="0" presId="urn:microsoft.com/office/officeart/2005/8/layout/pList1"/>
    <dgm:cxn modelId="{BBD33AC0-E88A-445E-AD06-FE100DA487FE}" type="presOf" srcId="{7F937774-085A-413E-8943-381AB47FE780}" destId="{4E85F717-023E-45F9-9547-B96A7A8325AA}" srcOrd="0" destOrd="0" presId="urn:microsoft.com/office/officeart/2005/8/layout/pList1"/>
    <dgm:cxn modelId="{29137EBD-B2EA-44A9-BAAE-17A5B2A3E3C2}" srcId="{AEFBCC5B-7936-462F-B5FF-CAE7D6A95F67}" destId="{7F937774-085A-413E-8943-381AB47FE780}" srcOrd="3" destOrd="0" parTransId="{6BF5D74D-1222-4BCA-AA8E-666AA9BA433B}" sibTransId="{129D5F89-0B25-48D2-B12F-0AAD987D0D43}"/>
    <dgm:cxn modelId="{62DE079C-8183-4DA0-8DD2-8AF69549C402}" srcId="{AEFBCC5B-7936-462F-B5FF-CAE7D6A95F67}" destId="{3820EF59-2455-4D0F-BA79-22BF86781F8F}" srcOrd="0" destOrd="0" parTransId="{B2736EA2-F340-4AF9-B2D7-473DE0494152}" sibTransId="{9A481E1F-4A47-4365-81A2-7F8146F1DA8E}"/>
    <dgm:cxn modelId="{D3C86563-1465-41F7-97B4-0FC98F3AB439}" srcId="{AEFBCC5B-7936-462F-B5FF-CAE7D6A95F67}" destId="{B21DDCF5-C16E-482A-A3D6-93863506C763}" srcOrd="1" destOrd="0" parTransId="{A0F2975B-8EE7-4946-A086-16F3F0334F73}" sibTransId="{1348F1D6-98A6-4348-B368-91B703D5D0DE}"/>
    <dgm:cxn modelId="{66E2F066-22E1-4DE5-B22B-B97AF8CC04A8}" type="presParOf" srcId="{5BB82BC1-849A-4769-99EC-7EA7E3C5B566}" destId="{5C58E3CD-BCAE-4E4F-9E7E-ADCFACBED989}" srcOrd="0" destOrd="0" presId="urn:microsoft.com/office/officeart/2005/8/layout/pList1"/>
    <dgm:cxn modelId="{69434608-B4B1-4CD1-89F9-8750BC744E0B}" type="presParOf" srcId="{5C58E3CD-BCAE-4E4F-9E7E-ADCFACBED989}" destId="{37A8464E-0DA0-4C76-BEFF-69DB3DAF21F1}" srcOrd="0" destOrd="0" presId="urn:microsoft.com/office/officeart/2005/8/layout/pList1"/>
    <dgm:cxn modelId="{1B1ACF66-CFF3-402F-A049-7C6864062484}" type="presParOf" srcId="{5C58E3CD-BCAE-4E4F-9E7E-ADCFACBED989}" destId="{35F24B2A-2665-4324-BE9A-F955316D0D19}" srcOrd="1" destOrd="0" presId="urn:microsoft.com/office/officeart/2005/8/layout/pList1"/>
    <dgm:cxn modelId="{33CDA540-A1FA-4D8D-9810-948BD5C67937}" type="presParOf" srcId="{5BB82BC1-849A-4769-99EC-7EA7E3C5B566}" destId="{15E948D0-4052-4CA3-851C-55518BC46122}" srcOrd="1" destOrd="0" presId="urn:microsoft.com/office/officeart/2005/8/layout/pList1"/>
    <dgm:cxn modelId="{719F4732-67EB-45D1-BE99-EDA075F653BE}" type="presParOf" srcId="{5BB82BC1-849A-4769-99EC-7EA7E3C5B566}" destId="{2498DD62-D99E-49FD-8298-4951764E3EA6}" srcOrd="2" destOrd="0" presId="urn:microsoft.com/office/officeart/2005/8/layout/pList1"/>
    <dgm:cxn modelId="{3125ADFB-56A8-4BCE-B928-DD8AC522308F}" type="presParOf" srcId="{2498DD62-D99E-49FD-8298-4951764E3EA6}" destId="{4AB8F1BC-520F-4665-A878-704EC83EBB63}" srcOrd="0" destOrd="0" presId="urn:microsoft.com/office/officeart/2005/8/layout/pList1"/>
    <dgm:cxn modelId="{9BE8CFF1-EE0B-4231-B81D-846D8C5179F8}" type="presParOf" srcId="{2498DD62-D99E-49FD-8298-4951764E3EA6}" destId="{326FF919-CA2E-43E1-BCA2-CE21DB670725}" srcOrd="1" destOrd="0" presId="urn:microsoft.com/office/officeart/2005/8/layout/pList1"/>
    <dgm:cxn modelId="{998DFDA1-8840-4830-BBB3-A90AEB71E927}" type="presParOf" srcId="{5BB82BC1-849A-4769-99EC-7EA7E3C5B566}" destId="{E99D0A06-4EA4-42B7-A520-32CA8063BFA4}" srcOrd="3" destOrd="0" presId="urn:microsoft.com/office/officeart/2005/8/layout/pList1"/>
    <dgm:cxn modelId="{2E9A9C3E-3447-49C8-A799-B65F8693BD88}" type="presParOf" srcId="{5BB82BC1-849A-4769-99EC-7EA7E3C5B566}" destId="{D2AD08BD-A200-4449-B8A3-9743839BE649}" srcOrd="4" destOrd="0" presId="urn:microsoft.com/office/officeart/2005/8/layout/pList1"/>
    <dgm:cxn modelId="{27F07ABB-0A72-40F0-983C-003A8E9D334C}" type="presParOf" srcId="{D2AD08BD-A200-4449-B8A3-9743839BE649}" destId="{BC9C0109-BBE3-43E5-8AC0-6B6515698ED2}" srcOrd="0" destOrd="0" presId="urn:microsoft.com/office/officeart/2005/8/layout/pList1"/>
    <dgm:cxn modelId="{84C48269-7CB4-4E48-ACE1-8DFFF93DA6FB}" type="presParOf" srcId="{D2AD08BD-A200-4449-B8A3-9743839BE649}" destId="{82765DA4-D899-4EDE-9267-A6551A22B979}" srcOrd="1" destOrd="0" presId="urn:microsoft.com/office/officeart/2005/8/layout/pList1"/>
    <dgm:cxn modelId="{3587827B-EB08-4B0B-8EF8-111ABE6915CF}" type="presParOf" srcId="{5BB82BC1-849A-4769-99EC-7EA7E3C5B566}" destId="{99DA7DEA-8F81-4C6F-8B7E-815730A0D7F0}" srcOrd="5" destOrd="0" presId="urn:microsoft.com/office/officeart/2005/8/layout/pList1"/>
    <dgm:cxn modelId="{BD51E03F-DBBB-4FE8-8416-FC69F1E30C30}" type="presParOf" srcId="{5BB82BC1-849A-4769-99EC-7EA7E3C5B566}" destId="{CEEB18E3-AE63-400B-9AD9-3DF0BABED7A1}" srcOrd="6" destOrd="0" presId="urn:microsoft.com/office/officeart/2005/8/layout/pList1"/>
    <dgm:cxn modelId="{F0380805-9164-4F48-ACE8-622DCD19E367}" type="presParOf" srcId="{CEEB18E3-AE63-400B-9AD9-3DF0BABED7A1}" destId="{18C744FF-CF23-4C09-BAE8-F3987F4BDD34}" srcOrd="0" destOrd="0" presId="urn:microsoft.com/office/officeart/2005/8/layout/pList1"/>
    <dgm:cxn modelId="{EE9E8147-B302-4437-8150-8BC6D8B0C387}" type="presParOf" srcId="{CEEB18E3-AE63-400B-9AD9-3DF0BABED7A1}" destId="{4E85F717-023E-45F9-9547-B96A7A8325AA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8464E-0DA0-4C76-BEFF-69DB3DAF21F1}">
      <dsp:nvSpPr>
        <dsp:cNvPr id="0" name=""/>
        <dsp:cNvSpPr/>
      </dsp:nvSpPr>
      <dsp:spPr>
        <a:xfrm>
          <a:off x="8928" y="1837564"/>
          <a:ext cx="4248746" cy="2927386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24B2A-2665-4324-BE9A-F955316D0D19}">
      <dsp:nvSpPr>
        <dsp:cNvPr id="0" name=""/>
        <dsp:cNvSpPr/>
      </dsp:nvSpPr>
      <dsp:spPr>
        <a:xfrm>
          <a:off x="8928" y="4764950"/>
          <a:ext cx="4248746" cy="1576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0" numCol="1" spcCol="1270" anchor="t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 err="1" smtClean="0"/>
            <a:t>Aashish</a:t>
          </a:r>
          <a:r>
            <a:rPr lang="en-GB" sz="3200" kern="1200" dirty="0" smtClean="0"/>
            <a:t> </a:t>
          </a:r>
          <a:r>
            <a:rPr lang="en-GB" sz="3200" kern="1200" dirty="0" err="1" smtClean="0"/>
            <a:t>Regmi</a:t>
          </a:r>
          <a:endParaRPr lang="en-GB" sz="3200" kern="1200" dirty="0" smtClean="0"/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(22070088)</a:t>
          </a:r>
          <a:endParaRPr lang="en-GB" sz="3200" b="0" kern="1200" dirty="0" smtClean="0"/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200" kern="1200" dirty="0"/>
        </a:p>
      </dsp:txBody>
      <dsp:txXfrm>
        <a:off x="8928" y="4764950"/>
        <a:ext cx="4248746" cy="1576284"/>
      </dsp:txXfrm>
    </dsp:sp>
    <dsp:sp modelId="{4AB8F1BC-520F-4665-A878-704EC83EBB63}">
      <dsp:nvSpPr>
        <dsp:cNvPr id="0" name=""/>
        <dsp:cNvSpPr/>
      </dsp:nvSpPr>
      <dsp:spPr>
        <a:xfrm>
          <a:off x="4682727" y="1837564"/>
          <a:ext cx="4248746" cy="2927386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7000" b="-6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FF919-CA2E-43E1-BCA2-CE21DB670725}">
      <dsp:nvSpPr>
        <dsp:cNvPr id="0" name=""/>
        <dsp:cNvSpPr/>
      </dsp:nvSpPr>
      <dsp:spPr>
        <a:xfrm>
          <a:off x="4682727" y="4764950"/>
          <a:ext cx="4248746" cy="1576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0" numCol="1" spcCol="1270" anchor="t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 err="1" smtClean="0"/>
            <a:t>Ayush</a:t>
          </a:r>
          <a:r>
            <a:rPr lang="en-GB" sz="3200" kern="1200" dirty="0" smtClean="0"/>
            <a:t> Shrestha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(22070092)</a:t>
          </a:r>
          <a:endParaRPr lang="en-GB" sz="3200" kern="1200" dirty="0" smtClean="0"/>
        </a:p>
      </dsp:txBody>
      <dsp:txXfrm>
        <a:off x="4682727" y="4764950"/>
        <a:ext cx="4248746" cy="1576284"/>
      </dsp:txXfrm>
    </dsp:sp>
    <dsp:sp modelId="{BC9C0109-BBE3-43E5-8AC0-6B6515698ED2}">
      <dsp:nvSpPr>
        <dsp:cNvPr id="0" name=""/>
        <dsp:cNvSpPr/>
      </dsp:nvSpPr>
      <dsp:spPr>
        <a:xfrm>
          <a:off x="9356526" y="1837564"/>
          <a:ext cx="4248746" cy="2927386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4000" b="-5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65DA4-D899-4EDE-9267-A6551A22B979}">
      <dsp:nvSpPr>
        <dsp:cNvPr id="0" name=""/>
        <dsp:cNvSpPr/>
      </dsp:nvSpPr>
      <dsp:spPr>
        <a:xfrm>
          <a:off x="9356526" y="4764950"/>
          <a:ext cx="4248746" cy="1576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0" numCol="1" spcCol="1270" anchor="t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 smtClean="0"/>
            <a:t>Dixit Shrestha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(22070098)</a:t>
          </a:r>
          <a:endParaRPr lang="en-US" sz="3200" b="0" kern="1200" dirty="0"/>
        </a:p>
      </dsp:txBody>
      <dsp:txXfrm>
        <a:off x="9356526" y="4764950"/>
        <a:ext cx="4248746" cy="1576284"/>
      </dsp:txXfrm>
    </dsp:sp>
    <dsp:sp modelId="{18C744FF-CF23-4C09-BAE8-F3987F4BDD34}">
      <dsp:nvSpPr>
        <dsp:cNvPr id="0" name=""/>
        <dsp:cNvSpPr/>
      </dsp:nvSpPr>
      <dsp:spPr>
        <a:xfrm>
          <a:off x="14030325" y="1837564"/>
          <a:ext cx="4248746" cy="2927386"/>
        </a:xfrm>
        <a:prstGeom prst="round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5F717-023E-45F9-9547-B96A7A8325AA}">
      <dsp:nvSpPr>
        <dsp:cNvPr id="0" name=""/>
        <dsp:cNvSpPr/>
      </dsp:nvSpPr>
      <dsp:spPr>
        <a:xfrm>
          <a:off x="14030325" y="4764950"/>
          <a:ext cx="4248746" cy="1576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0" numCol="1" spcCol="1270" anchor="t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 err="1" smtClean="0"/>
            <a:t>Sonish</a:t>
          </a:r>
          <a:r>
            <a:rPr lang="en-GB" sz="3200" kern="1200" dirty="0" smtClean="0"/>
            <a:t> </a:t>
          </a:r>
          <a:r>
            <a:rPr lang="en-GB" sz="3200" kern="1200" dirty="0" err="1" smtClean="0"/>
            <a:t>Lohani</a:t>
          </a:r>
          <a:endParaRPr lang="en-GB" sz="3200" kern="1200" dirty="0" smtClean="0"/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(21075549)</a:t>
          </a:r>
          <a:endParaRPr lang="en-US" sz="3200" b="0" kern="1200" dirty="0"/>
        </a:p>
      </dsp:txBody>
      <dsp:txXfrm>
        <a:off x="14030325" y="4764950"/>
        <a:ext cx="4248746" cy="15762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svg"/><Relationship Id="rId26" Type="http://schemas.openxmlformats.org/officeDocument/2006/relationships/image" Target="../media/image50.svg"/><Relationship Id="rId34" Type="http://schemas.openxmlformats.org/officeDocument/2006/relationships/image" Target="../media/image18.png"/><Relationship Id="rId12" Type="http://schemas.openxmlformats.org/officeDocument/2006/relationships/image" Target="../media/image10.png"/><Relationship Id="rId17" Type="http://schemas.openxmlformats.org/officeDocument/2006/relationships/image" Target="../media/image41.svg"/><Relationship Id="rId33" Type="http://schemas.openxmlformats.org/officeDocument/2006/relationships/image" Target="../media/image17.png"/><Relationship Id="rId2" Type="http://schemas.openxmlformats.org/officeDocument/2006/relationships/image" Target="../media/image9.png"/><Relationship Id="rId29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35.svg"/><Relationship Id="rId32" Type="http://schemas.openxmlformats.org/officeDocument/2006/relationships/image" Target="../media/image16.png"/><Relationship Id="rId28" Type="http://schemas.openxmlformats.org/officeDocument/2006/relationships/image" Target="../media/image13.png"/><Relationship Id="rId31" Type="http://schemas.openxmlformats.org/officeDocument/2006/relationships/image" Target="../media/image15.png"/><Relationship Id="rId14" Type="http://schemas.openxmlformats.org/officeDocument/2006/relationships/image" Target="../media/image11.png"/><Relationship Id="rId27" Type="http://schemas.openxmlformats.org/officeDocument/2006/relationships/image" Target="../media/image12.png"/><Relationship Id="rId30" Type="http://schemas.openxmlformats.org/officeDocument/2006/relationships/image" Target="../media/image14.web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cross.org/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6409" y="1028700"/>
            <a:ext cx="16172061" cy="8229600"/>
          </a:xfrm>
          <a:custGeom>
            <a:avLst/>
            <a:gdLst/>
            <a:ahLst/>
            <a:cxnLst/>
            <a:rect l="l" t="t" r="r" b="b"/>
            <a:pathLst>
              <a:path w="16172061" h="8229600">
                <a:moveTo>
                  <a:pt x="0" y="0"/>
                </a:moveTo>
                <a:lnTo>
                  <a:pt x="16172061" y="0"/>
                </a:lnTo>
                <a:lnTo>
                  <a:pt x="1617206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t="-98009" r="-362" b="-9800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28700"/>
            <a:ext cx="4862945" cy="8229600"/>
          </a:xfrm>
          <a:custGeom>
            <a:avLst/>
            <a:gdLst/>
            <a:ahLst/>
            <a:cxnLst/>
            <a:rect l="l" t="t" r="r" b="b"/>
            <a:pathLst>
              <a:path w="4862945" h="8229600">
                <a:moveTo>
                  <a:pt x="0" y="0"/>
                </a:moveTo>
                <a:lnTo>
                  <a:pt x="4862945" y="0"/>
                </a:lnTo>
                <a:lnTo>
                  <a:pt x="486294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142359" y="2784800"/>
            <a:ext cx="10293818" cy="167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8"/>
              </a:lnSpc>
            </a:pPr>
            <a:r>
              <a:rPr lang="en-US" sz="4400" b="1" dirty="0">
                <a:solidFill>
                  <a:srgbClr val="AE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Blood Donation </a:t>
            </a:r>
          </a:p>
          <a:p>
            <a:pPr algn="ctr">
              <a:lnSpc>
                <a:spcPts val="6748"/>
              </a:lnSpc>
            </a:pPr>
            <a:r>
              <a:rPr lang="en-US" sz="4400" b="1" dirty="0">
                <a:solidFill>
                  <a:srgbClr val="AE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35272" y="1834729"/>
            <a:ext cx="7707991" cy="68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7"/>
              </a:lnSpc>
            </a:pPr>
            <a:r>
              <a:rPr lang="en-US" sz="6600" b="1" dirty="0">
                <a:solidFill>
                  <a:srgbClr val="04849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Blood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4505" y="4528164"/>
            <a:ext cx="8849895" cy="2854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936"/>
              </a:lnSpc>
            </a:pPr>
            <a:r>
              <a:rPr lang="en-US" sz="3200" dirty="0">
                <a:latin typeface="Helios"/>
                <a:ea typeface="Helios"/>
                <a:cs typeface="Helios"/>
                <a:sym typeface="Helios"/>
              </a:rPr>
              <a:t>CMP [209],</a:t>
            </a:r>
          </a:p>
          <a:p>
            <a:pPr>
              <a:lnSpc>
                <a:spcPts val="5936"/>
              </a:lnSpc>
            </a:pPr>
            <a:r>
              <a:rPr lang="en-US" sz="3200" dirty="0">
                <a:latin typeface="Helios"/>
                <a:ea typeface="Helios"/>
                <a:cs typeface="Helios"/>
                <a:sym typeface="Helios"/>
              </a:rPr>
              <a:t>6</a:t>
            </a:r>
            <a:r>
              <a:rPr lang="en-US" sz="3200" baseline="30000" dirty="0">
                <a:latin typeface="Helios"/>
                <a:ea typeface="Helios"/>
                <a:cs typeface="Helios"/>
                <a:sym typeface="Helios"/>
              </a:rPr>
              <a:t>TH</a:t>
            </a:r>
            <a:r>
              <a:rPr lang="en-US" sz="3200" dirty="0">
                <a:latin typeface="Helios"/>
                <a:ea typeface="Helios"/>
                <a:cs typeface="Helios"/>
                <a:sym typeface="Helios"/>
              </a:rPr>
              <a:t> SEMESTER</a:t>
            </a:r>
          </a:p>
          <a:p>
            <a:pPr>
              <a:lnSpc>
                <a:spcPts val="5936"/>
              </a:lnSpc>
            </a:pPr>
            <a:r>
              <a:rPr lang="en-US" sz="3200" dirty="0">
                <a:latin typeface="Helios"/>
                <a:ea typeface="Helios"/>
                <a:cs typeface="Helios"/>
                <a:sym typeface="Helios"/>
              </a:rPr>
              <a:t>JULY, 08, 2025</a:t>
            </a:r>
          </a:p>
          <a:p>
            <a:endParaRPr lang="en-US" sz="3200" dirty="0"/>
          </a:p>
        </p:txBody>
      </p:sp>
      <p:sp>
        <p:nvSpPr>
          <p:cNvPr id="13" name="Freeform 19"/>
          <p:cNvSpPr/>
          <p:nvPr/>
        </p:nvSpPr>
        <p:spPr>
          <a:xfrm>
            <a:off x="11125200" y="4845837"/>
            <a:ext cx="5001491" cy="2519637"/>
          </a:xfrm>
          <a:custGeom>
            <a:avLst/>
            <a:gdLst/>
            <a:ahLst/>
            <a:cxnLst/>
            <a:rect l="l" t="t" r="r" b="b"/>
            <a:pathLst>
              <a:path w="3673902" h="1791557">
                <a:moveTo>
                  <a:pt x="0" y="0"/>
                </a:moveTo>
                <a:lnTo>
                  <a:pt x="3673901" y="0"/>
                </a:lnTo>
                <a:lnTo>
                  <a:pt x="3673901" y="1791557"/>
                </a:lnTo>
                <a:lnTo>
                  <a:pt x="0" y="1791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56248" y="388610"/>
            <a:ext cx="753764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latin typeface="Bahnschrift SemiBold SemiConden" panose="020B0502040204020203" pitchFamily="34" charset="0"/>
                <a:ea typeface="Object Sans Bold"/>
                <a:cs typeface="Object Sans Bold"/>
                <a:sym typeface="Object Sans Bold"/>
              </a:rPr>
              <a:t>Special Mention to</a:t>
            </a:r>
          </a:p>
          <a:p>
            <a:pPr algn="ctr"/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818932" y="7200900"/>
            <a:ext cx="9144000" cy="130747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3600" b="1" dirty="0" err="1">
                <a:solidFill>
                  <a:srgbClr val="000000"/>
                </a:solidFill>
                <a:ea typeface="Object Sans Bold"/>
                <a:cs typeface="Object Sans Bold"/>
                <a:sym typeface="Object Sans Bold"/>
              </a:rPr>
              <a:t>Er</a:t>
            </a:r>
            <a:r>
              <a:rPr lang="en-US" sz="3600" b="1" dirty="0">
                <a:solidFill>
                  <a:srgbClr val="000000"/>
                </a:solidFill>
                <a:ea typeface="Object Sans Bold"/>
                <a:cs typeface="Object Sans Bold"/>
                <a:sym typeface="Object Sans Bold"/>
              </a:rPr>
              <a:t>. </a:t>
            </a:r>
            <a:r>
              <a:rPr lang="en-US" sz="3600" b="1" dirty="0" smtClean="0">
                <a:solidFill>
                  <a:srgbClr val="000000"/>
                </a:solidFill>
                <a:ea typeface="Object Sans Bold"/>
                <a:cs typeface="Object Sans Bold"/>
                <a:sym typeface="Object Sans Bold"/>
              </a:rPr>
              <a:t>Santosh Shrestha</a:t>
            </a:r>
            <a:endParaRPr lang="en-US" sz="3600" b="1" dirty="0">
              <a:solidFill>
                <a:srgbClr val="000000"/>
              </a:solidFill>
              <a:ea typeface="Object Sans Bold"/>
              <a:cs typeface="Object Sans Bold"/>
              <a:sym typeface="Object Sans Bold"/>
            </a:endParaRPr>
          </a:p>
          <a:p>
            <a:pPr algn="ctr">
              <a:lnSpc>
                <a:spcPts val="3067"/>
              </a:lnSpc>
            </a:pPr>
            <a:r>
              <a:rPr lang="en-US" sz="3600" dirty="0">
                <a:solidFill>
                  <a:srgbClr val="000000"/>
                </a:solidFill>
                <a:ea typeface="Object Sans"/>
                <a:cs typeface="Object Sans"/>
                <a:sym typeface="Object Sans"/>
              </a:rPr>
              <a:t>Assistant Professor</a:t>
            </a:r>
          </a:p>
          <a:p>
            <a:pPr algn="ctr">
              <a:lnSpc>
                <a:spcPts val="3067"/>
              </a:lnSpc>
            </a:pPr>
            <a:r>
              <a:rPr lang="en-US" sz="3600" dirty="0">
                <a:solidFill>
                  <a:srgbClr val="000000"/>
                </a:solidFill>
                <a:ea typeface="Object Sans"/>
                <a:cs typeface="Object Sans"/>
                <a:sym typeface="Object Sans"/>
              </a:rPr>
              <a:t>United Technical College</a:t>
            </a:r>
            <a:endParaRPr lang="en-US" sz="3600" dirty="0">
              <a:solidFill>
                <a:srgbClr val="000000"/>
              </a:solidFill>
              <a:ea typeface="Object Sans"/>
              <a:cs typeface="Object Sans"/>
              <a:sym typeface="Object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0" y="3446836"/>
            <a:ext cx="11734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dirty="0">
                <a:latin typeface="Bahnschrift SemiBold SemiConden" panose="020B0502040204020203" pitchFamily="34" charset="0"/>
              </a:rPr>
              <a:t>We sincerely thank our respected supervisor for your valuable guidance, continuous support, and encouragement throughout this </a:t>
            </a:r>
            <a:r>
              <a:rPr lang="en-US" sz="3600" b="1" dirty="0">
                <a:latin typeface="Bahnschrift SemiBold SemiConden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</a:t>
            </a:r>
            <a:r>
              <a:rPr lang="en-US" sz="3600" b="1" dirty="0">
                <a:latin typeface="Bahnschrift SemiBold SemiConden" panose="020B0502040204020203" pitchFamily="34" charset="0"/>
              </a:rPr>
              <a:t>. Your insights and mentorship have been instrumental in helping us learn, grow, and complete this work successfully.</a:t>
            </a:r>
            <a:endParaRPr lang="en-US" sz="3600" b="1" dirty="0">
              <a:solidFill>
                <a:srgbClr val="F98800"/>
              </a:solidFill>
              <a:latin typeface="Bahnschrift SemiBold SemiConden" panose="020B0502040204020203" pitchFamily="34" charset="0"/>
              <a:ea typeface="Object Sans Bold"/>
              <a:cs typeface="Object Sans Bold"/>
              <a:sym typeface="Object Sans Bold"/>
            </a:endParaRPr>
          </a:p>
          <a:p>
            <a:pPr algn="just"/>
            <a:endParaRPr lang="en-US" sz="3600" dirty="0">
              <a:latin typeface="Bahnschrift SemiBold SemiConden" panose="020B0502040204020203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36" y="2095500"/>
            <a:ext cx="5407264" cy="476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0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276935260"/>
              </p:ext>
            </p:extLst>
          </p:nvPr>
        </p:nvGraphicFramePr>
        <p:xfrm>
          <a:off x="0" y="1866900"/>
          <a:ext cx="18288000" cy="817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10200" y="1205180"/>
            <a:ext cx="62824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 smtClean="0">
                <a:latin typeface="Bahnschrift SemiBold SemiConden" panose="020B0502040204020203" pitchFamily="34" charset="0"/>
              </a:rPr>
              <a:t>Team Members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14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571500"/>
            <a:ext cx="511659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Background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2247900"/>
            <a:ext cx="126492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 smtClean="0"/>
              <a:t>Blood </a:t>
            </a:r>
            <a:r>
              <a:rPr lang="en-US" sz="3200" dirty="0"/>
              <a:t>donation is critical for saving lives during medical emergencies</a:t>
            </a:r>
            <a:r>
              <a:rPr lang="en-US" sz="3200" dirty="0" smtClean="0"/>
              <a:t>.</a:t>
            </a:r>
          </a:p>
          <a:p>
            <a:pPr algn="just"/>
            <a:endParaRPr lang="en-US" sz="3200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Current systems face issues like poor communication and inefficient coordination</a:t>
            </a:r>
            <a:r>
              <a:rPr lang="en-US" sz="3200" dirty="0" smtClean="0"/>
              <a:t>.</a:t>
            </a:r>
          </a:p>
          <a:p>
            <a:pPr algn="just"/>
            <a:endParaRPr lang="en-US" sz="3200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Manual processes make blood management slow and unreliable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A digital platform can streamline donor-recipient matching and communication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project aims to build a centralized, real-time Blood Donation </a:t>
            </a:r>
            <a:r>
              <a:rPr lang="en-US" sz="3200" dirty="0" smtClean="0"/>
              <a:t>System.</a:t>
            </a:r>
          </a:p>
          <a:p>
            <a:pPr algn="just"/>
            <a:endParaRPr lang="en-US" sz="3200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It will improve efficiency, accessibility, and encourage more blood donations.</a:t>
            </a: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066800" y="952500"/>
            <a:ext cx="11887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Problem Statement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6800" y="2933700"/>
            <a:ext cx="1229227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Blood donation systems are inefficient and mostly manual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Finding suitable donors quickly is difficult during emergencies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There is no centralized and real-time donor-recipient matching system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Lack of timely communication leads to delays in blood delivery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A smart, digital solution is needed to streamline the entire process.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485900"/>
            <a:ext cx="431720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Objectives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3390900"/>
            <a:ext cx="177546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To develop a centralized platform that connects blood </a:t>
            </a:r>
            <a:r>
              <a:rPr lang="en-US" sz="3200" dirty="0" smtClean="0"/>
              <a:t>donors and recipients </a:t>
            </a:r>
            <a:r>
              <a:rPr lang="en-US" sz="3200" dirty="0"/>
              <a:t>for efficient blood management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To implement a matching system that identifies suitable donors based on blood type and location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To maintain a secure and organized database of registered users for quick access during </a:t>
            </a:r>
            <a:r>
              <a:rPr lang="en-US" sz="3200" dirty="0" smtClean="0"/>
              <a:t>emergencies.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4126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1267691"/>
            <a:ext cx="80772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8000" dirty="0" smtClean="0">
                <a:latin typeface="Bahnschrift SemiBold SemiConden" panose="020B0502040204020203" pitchFamily="34" charset="0"/>
              </a:rPr>
              <a:t>Scope</a:t>
            </a:r>
          </a:p>
          <a:p>
            <a:pPr algn="ctr"/>
            <a:endParaRPr lang="en-GB" sz="8000" dirty="0">
              <a:solidFill>
                <a:srgbClr val="FF0000"/>
              </a:solidFill>
              <a:latin typeface="Bahnschrift SemiBold SemiConden" panose="020B0502040204020203" pitchFamily="34" charset="0"/>
            </a:endParaRPr>
          </a:p>
          <a:p>
            <a:pPr marL="1143000" indent="-1143000" algn="just">
              <a:buFont typeface="Wingdings" panose="05000000000000000000" pitchFamily="2" charset="2"/>
              <a:buChar char="Ø"/>
            </a:pPr>
            <a:r>
              <a:rPr lang="en-US" sz="3200" dirty="0"/>
              <a:t>The system allows registration and management of blood </a:t>
            </a:r>
            <a:r>
              <a:rPr lang="en-US" sz="3200" dirty="0" smtClean="0"/>
              <a:t>donors and recipients.</a:t>
            </a:r>
          </a:p>
          <a:p>
            <a:pPr marL="1143000" indent="-1143000" algn="just">
              <a:buFont typeface="Wingdings" panose="05000000000000000000" pitchFamily="2" charset="2"/>
              <a:buChar char="Ø"/>
            </a:pPr>
            <a:endParaRPr lang="en-GB" sz="3200" dirty="0">
              <a:solidFill>
                <a:srgbClr val="FF0000"/>
              </a:solidFill>
              <a:latin typeface="Bahnschrift SemiBold SemiConden" panose="020B0502040204020203" pitchFamily="34" charset="0"/>
            </a:endParaRPr>
          </a:p>
          <a:p>
            <a:pPr marL="1143000" indent="-1143000" algn="just">
              <a:buFont typeface="Wingdings" panose="05000000000000000000" pitchFamily="2" charset="2"/>
              <a:buChar char="Ø"/>
            </a:pPr>
            <a:r>
              <a:rPr lang="en-US" sz="3200" dirty="0"/>
              <a:t>It matches donors and recipients based on blood type </a:t>
            </a:r>
            <a:r>
              <a:rPr lang="en-US" sz="3200" dirty="0" smtClean="0"/>
              <a:t>and location.</a:t>
            </a:r>
          </a:p>
          <a:p>
            <a:pPr marL="1143000" indent="-1143000" algn="just">
              <a:buFont typeface="Wingdings" panose="05000000000000000000" pitchFamily="2" charset="2"/>
              <a:buChar char="Ø"/>
            </a:pPr>
            <a:endParaRPr lang="en-GB" sz="3200" dirty="0">
              <a:solidFill>
                <a:srgbClr val="FF0000"/>
              </a:solidFill>
              <a:latin typeface="Bahnschrift SemiBold SemiConden" panose="020B0502040204020203" pitchFamily="34" charset="0"/>
            </a:endParaRPr>
          </a:p>
          <a:p>
            <a:pPr marL="1143000" indent="-1143000" algn="just">
              <a:buFont typeface="Wingdings" panose="05000000000000000000" pitchFamily="2" charset="2"/>
              <a:buChar char="Ø"/>
            </a:pPr>
            <a:r>
              <a:rPr lang="en-US" sz="3200" dirty="0"/>
              <a:t>It provides a user-friendly interface for easy access to blood donation services.</a:t>
            </a:r>
            <a:endParaRPr lang="en-US" sz="3200" dirty="0">
              <a:solidFill>
                <a:srgbClr val="FF000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98727" y="1267691"/>
            <a:ext cx="463139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Limitations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98727" y="3695700"/>
            <a:ext cx="736369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system relies on internet access for real-time functionality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 smtClean="0"/>
              <a:t>It does not support </a:t>
            </a:r>
            <a:r>
              <a:rPr lang="en-US" sz="3200" dirty="0"/>
              <a:t>integration with external hospital or government databases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3200" dirty="0" smtClean="0"/>
              <a:t>The system does not fully support email notification system.</a:t>
            </a: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1562100"/>
            <a:ext cx="510267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Applications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800" y="3543300"/>
            <a:ext cx="1600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Helps recipients quickly find matching blood donors based on blood type and location, especially in emergency </a:t>
            </a:r>
            <a:r>
              <a:rPr lang="en-US" sz="3200" dirty="0" smtClean="0"/>
              <a:t>situations.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Allows individuals in need of blood to directly access donor information and contact them without delay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Can be used by colleges, companies, and communities to build and maintain internal donor networks for quick access during medical needs.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46364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1333500"/>
            <a:ext cx="1128546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Literature Review Overview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800" y="3543300"/>
            <a:ext cx="16002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Traditional blood donation systems are often manual, slow, and lack efficient donor-recipient coordination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Studies highlight the need for digital platforms to improve accessibility and response time in blood donation processes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Research supports using centralized databases and real-time matching to reduce delays in finding suitable donors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Existing systems that use SMS or mobile apps show improved communication but often lack user-friendly design or scalability.</a:t>
            </a:r>
            <a:endParaRPr lang="en-US" sz="3200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31969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500960"/>
              </p:ext>
            </p:extLst>
          </p:nvPr>
        </p:nvGraphicFramePr>
        <p:xfrm>
          <a:off x="1295400" y="647700"/>
          <a:ext cx="16154400" cy="94806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37624">
                  <a:extLst>
                    <a:ext uri="{9D8B030D-6E8A-4147-A177-3AD203B41FA5}">
                      <a16:colId xmlns:a16="http://schemas.microsoft.com/office/drawing/2014/main" val="1162180051"/>
                    </a:ext>
                  </a:extLst>
                </a:gridCol>
                <a:gridCol w="4037624">
                  <a:extLst>
                    <a:ext uri="{9D8B030D-6E8A-4147-A177-3AD203B41FA5}">
                      <a16:colId xmlns:a16="http://schemas.microsoft.com/office/drawing/2014/main" val="1701041166"/>
                    </a:ext>
                  </a:extLst>
                </a:gridCol>
                <a:gridCol w="4039576">
                  <a:extLst>
                    <a:ext uri="{9D8B030D-6E8A-4147-A177-3AD203B41FA5}">
                      <a16:colId xmlns:a16="http://schemas.microsoft.com/office/drawing/2014/main" val="1115191632"/>
                    </a:ext>
                  </a:extLst>
                </a:gridCol>
                <a:gridCol w="4039576">
                  <a:extLst>
                    <a:ext uri="{9D8B030D-6E8A-4147-A177-3AD203B41FA5}">
                      <a16:colId xmlns:a16="http://schemas.microsoft.com/office/drawing/2014/main" val="17412855"/>
                    </a:ext>
                  </a:extLst>
                </a:gridCol>
              </a:tblGrid>
              <a:tr h="53938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Authors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Description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Features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Drawbacks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extLst>
                  <a:ext uri="{0D108BD9-81ED-4DB2-BD59-A6C34878D82A}">
                    <a16:rowId xmlns:a16="http://schemas.microsoft.com/office/drawing/2014/main" val="3212471528"/>
                  </a:ext>
                </a:extLst>
              </a:tr>
              <a:tr h="164989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(Smith, 2015)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A platform for locating blood donors based on location and blood type.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Simple interface, basic search functionality.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No real-time communication or emergency handling capabilities.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extLst>
                  <a:ext uri="{0D108BD9-81ED-4DB2-BD59-A6C34878D82A}">
                    <a16:rowId xmlns:a16="http://schemas.microsoft.com/office/drawing/2014/main" val="1794393396"/>
                  </a:ext>
                </a:extLst>
              </a:tr>
              <a:tr h="164989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(American Red Cross, 2017)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A U.S.-based app for managing blood donation schedules and tracking donation history.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Appointment scheduling, reminders, donation history tracking.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Restricted geographic coverage; lacks real-time donor-recipient matching.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extLst>
                  <a:ext uri="{0D108BD9-81ED-4DB2-BD59-A6C34878D82A}">
                    <a16:rowId xmlns:a16="http://schemas.microsoft.com/office/drawing/2014/main" val="2260045118"/>
                  </a:ext>
                </a:extLst>
              </a:tr>
              <a:tr h="19798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(Jones, 2018)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A web-based directory for blood donors with search capabilities by location and blood type.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Directory-based search, basic functionality.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Outdated interface; not mobile-responsive; lacks real-time notifications for emergencies.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extLst>
                  <a:ext uri="{0D108BD9-81ED-4DB2-BD59-A6C34878D82A}">
                    <a16:rowId xmlns:a16="http://schemas.microsoft.com/office/drawing/2014/main" val="1926558491"/>
                  </a:ext>
                </a:extLst>
              </a:tr>
              <a:tr h="19798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(Chen &amp; Wang, 2019)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A mobile app designed for emergency blood donation requests using geolocation technology.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Geolocation-based matching, emergency handling capabilities.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Limited scalability; no support for large databases or advanced analytics.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extLst>
                  <a:ext uri="{0D108BD9-81ED-4DB2-BD59-A6C34878D82A}">
                    <a16:rowId xmlns:a16="http://schemas.microsoft.com/office/drawing/2014/main" val="550060442"/>
                  </a:ext>
                </a:extLst>
              </a:tr>
              <a:tr h="164989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(Thapa &amp; Shrestha, 2010)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A basic SMS-based system for connecting donors and recipients through alerts.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Simple SMS alerts; accessible for non-smartphone users.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No mobile app; lacks real-time updates, secure database integration, and modern features.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084" marR="44084" marT="0" marB="0"/>
                </a:tc>
                <a:extLst>
                  <a:ext uri="{0D108BD9-81ED-4DB2-BD59-A6C34878D82A}">
                    <a16:rowId xmlns:a16="http://schemas.microsoft.com/office/drawing/2014/main" val="428131024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1333500"/>
            <a:ext cx="1294296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Conclusion of Literature Review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9091" y="3162300"/>
            <a:ext cx="1600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Compared to traditional and SMS-based systems, this system provides a centralized digital platform with automated donor-recipient matching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Instead of relying on external alerts, it directly displays matching donors to recipients, enabling faster contact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use of a responsive web interface improves usability over older systems with limited user experience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system is flexible and can be expanded with features like geo-location, notifications, and analytics for improved efficiency.</a:t>
            </a: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83234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0" y="1257300"/>
            <a:ext cx="75857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8000" dirty="0" smtClean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Technologies Used</a:t>
            </a:r>
            <a:endParaRPr lang="en-US" sz="8000" dirty="0">
              <a:solidFill>
                <a:srgbClr val="FF000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10BBC04-355E-4D54-B2F2-890AC8214119}"/>
              </a:ext>
            </a:extLst>
          </p:cNvPr>
          <p:cNvSpPr/>
          <p:nvPr/>
        </p:nvSpPr>
        <p:spPr>
          <a:xfrm>
            <a:off x="1230144" y="3317891"/>
            <a:ext cx="3140906" cy="925139"/>
          </a:xfrm>
          <a:custGeom>
            <a:avLst/>
            <a:gdLst/>
            <a:ahLst/>
            <a:cxnLst/>
            <a:rect l="l" t="t" r="r" b="b"/>
            <a:pathLst>
              <a:path w="3140906" h="925139">
                <a:moveTo>
                  <a:pt x="0" y="0"/>
                </a:moveTo>
                <a:lnTo>
                  <a:pt x="3140906" y="0"/>
                </a:lnTo>
                <a:lnTo>
                  <a:pt x="3140906" y="925139"/>
                </a:lnTo>
                <a:lnTo>
                  <a:pt x="0" y="925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15">
            <a:extLst>
              <a:ext uri="{FF2B5EF4-FFF2-40B4-BE49-F238E27FC236}">
                <a16:creationId xmlns:a16="http://schemas.microsoft.com/office/drawing/2014/main" id="{98E21EF9-68ED-4A35-98C9-355191782B0F}"/>
              </a:ext>
            </a:extLst>
          </p:cNvPr>
          <p:cNvSpPr/>
          <p:nvPr/>
        </p:nvSpPr>
        <p:spPr>
          <a:xfrm>
            <a:off x="5106765" y="2925267"/>
            <a:ext cx="2617435" cy="1452362"/>
          </a:xfrm>
          <a:custGeom>
            <a:avLst/>
            <a:gdLst/>
            <a:ahLst/>
            <a:cxnLst/>
            <a:rect l="l" t="t" r="r" b="b"/>
            <a:pathLst>
              <a:path w="2052363" h="932892">
                <a:moveTo>
                  <a:pt x="0" y="0"/>
                </a:moveTo>
                <a:lnTo>
                  <a:pt x="2052363" y="0"/>
                </a:lnTo>
                <a:lnTo>
                  <a:pt x="2052363" y="932892"/>
                </a:lnTo>
                <a:lnTo>
                  <a:pt x="0" y="932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0B5D7F7D-C6C5-419B-AB3E-0962EAA54718}"/>
              </a:ext>
            </a:extLst>
          </p:cNvPr>
          <p:cNvSpPr/>
          <p:nvPr/>
        </p:nvSpPr>
        <p:spPr>
          <a:xfrm>
            <a:off x="1524000" y="5600700"/>
            <a:ext cx="1263257" cy="1676400"/>
          </a:xfrm>
          <a:custGeom>
            <a:avLst/>
            <a:gdLst/>
            <a:ahLst/>
            <a:cxnLst/>
            <a:rect l="l" t="t" r="r" b="b"/>
            <a:pathLst>
              <a:path w="1290550" h="1820007">
                <a:moveTo>
                  <a:pt x="0" y="0"/>
                </a:moveTo>
                <a:lnTo>
                  <a:pt x="1290550" y="0"/>
                </a:lnTo>
                <a:lnTo>
                  <a:pt x="1290550" y="1820007"/>
                </a:lnTo>
                <a:lnTo>
                  <a:pt x="0" y="18200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E469C41A-723F-4CCF-ACA5-CA6B78D8D6D4}"/>
              </a:ext>
            </a:extLst>
          </p:cNvPr>
          <p:cNvGrpSpPr/>
          <p:nvPr/>
        </p:nvGrpSpPr>
        <p:grpSpPr>
          <a:xfrm>
            <a:off x="3811658" y="5486400"/>
            <a:ext cx="1295066" cy="1905000"/>
            <a:chOff x="0" y="0"/>
            <a:chExt cx="1988249" cy="2786863"/>
          </a:xfrm>
        </p:grpSpPr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811B4674-56C1-406B-82A0-75AF6E8E1076}"/>
                </a:ext>
              </a:extLst>
            </p:cNvPr>
            <p:cNvSpPr/>
            <p:nvPr/>
          </p:nvSpPr>
          <p:spPr>
            <a:xfrm>
              <a:off x="0" y="0"/>
              <a:ext cx="1988312" cy="2786888"/>
            </a:xfrm>
            <a:custGeom>
              <a:avLst/>
              <a:gdLst/>
              <a:ahLst/>
              <a:cxnLst/>
              <a:rect l="l" t="t" r="r" b="b"/>
              <a:pathLst>
                <a:path w="1988312" h="2786888">
                  <a:moveTo>
                    <a:pt x="0" y="0"/>
                  </a:moveTo>
                  <a:lnTo>
                    <a:pt x="1988312" y="0"/>
                  </a:lnTo>
                  <a:lnTo>
                    <a:pt x="1988312" y="2786888"/>
                  </a:lnTo>
                  <a:lnTo>
                    <a:pt x="0" y="2786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t="-39" r="3" b="-3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20">
            <a:extLst>
              <a:ext uri="{FF2B5EF4-FFF2-40B4-BE49-F238E27FC236}">
                <a16:creationId xmlns:a16="http://schemas.microsoft.com/office/drawing/2014/main" id="{B49FB07D-8E82-4242-B6A0-1689045DD5C6}"/>
              </a:ext>
            </a:extLst>
          </p:cNvPr>
          <p:cNvSpPr/>
          <p:nvPr/>
        </p:nvSpPr>
        <p:spPr>
          <a:xfrm>
            <a:off x="6324601" y="5822012"/>
            <a:ext cx="1550634" cy="1455088"/>
          </a:xfrm>
          <a:custGeom>
            <a:avLst/>
            <a:gdLst/>
            <a:ahLst/>
            <a:cxnLst/>
            <a:rect l="l" t="t" r="r" b="b"/>
            <a:pathLst>
              <a:path w="1704835" h="1704835">
                <a:moveTo>
                  <a:pt x="0" y="0"/>
                </a:moveTo>
                <a:lnTo>
                  <a:pt x="1704835" y="0"/>
                </a:lnTo>
                <a:lnTo>
                  <a:pt x="1704835" y="1704836"/>
                </a:lnTo>
                <a:lnTo>
                  <a:pt x="0" y="170483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xmlns="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A54ADF-5318-4B65-8CC7-45DE9D62B4C2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071" y="5822012"/>
            <a:ext cx="1715990" cy="1268403"/>
          </a:xfrm>
          <a:prstGeom prst="rect">
            <a:avLst/>
          </a:prstGeom>
        </p:spPr>
      </p:pic>
      <p:sp>
        <p:nvSpPr>
          <p:cNvPr id="13" name="Freeform 25">
            <a:extLst>
              <a:ext uri="{FF2B5EF4-FFF2-40B4-BE49-F238E27FC236}">
                <a16:creationId xmlns:a16="http://schemas.microsoft.com/office/drawing/2014/main" id="{BA22BC65-B4CE-4E1A-8A50-D6E08D2FE6F7}"/>
              </a:ext>
            </a:extLst>
          </p:cNvPr>
          <p:cNvSpPr/>
          <p:nvPr/>
        </p:nvSpPr>
        <p:spPr>
          <a:xfrm>
            <a:off x="12178513" y="5832403"/>
            <a:ext cx="1452940" cy="1435996"/>
          </a:xfrm>
          <a:custGeom>
            <a:avLst/>
            <a:gdLst/>
            <a:ahLst/>
            <a:cxnLst/>
            <a:rect l="l" t="t" r="r" b="b"/>
            <a:pathLst>
              <a:path w="1366948" h="1366948">
                <a:moveTo>
                  <a:pt x="0" y="0"/>
                </a:moveTo>
                <a:lnTo>
                  <a:pt x="1366948" y="0"/>
                </a:lnTo>
                <a:lnTo>
                  <a:pt x="1366948" y="1366947"/>
                </a:lnTo>
                <a:lnTo>
                  <a:pt x="0" y="136694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03664B64-93CB-4116-AFC4-139F8F2A485F}"/>
              </a:ext>
            </a:extLst>
          </p:cNvPr>
          <p:cNvSpPr/>
          <p:nvPr/>
        </p:nvSpPr>
        <p:spPr>
          <a:xfrm>
            <a:off x="14554200" y="3185929"/>
            <a:ext cx="1106001" cy="1181309"/>
          </a:xfrm>
          <a:custGeom>
            <a:avLst/>
            <a:gdLst/>
            <a:ahLst/>
            <a:cxnLst/>
            <a:rect l="l" t="t" r="r" b="b"/>
            <a:pathLst>
              <a:path w="1106001" h="1181309">
                <a:moveTo>
                  <a:pt x="0" y="0"/>
                </a:moveTo>
                <a:lnTo>
                  <a:pt x="1106001" y="0"/>
                </a:lnTo>
                <a:lnTo>
                  <a:pt x="1106001" y="1181310"/>
                </a:lnTo>
                <a:lnTo>
                  <a:pt x="0" y="118131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81" y="3000514"/>
            <a:ext cx="4191000" cy="136672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919" y="8102276"/>
            <a:ext cx="5153025" cy="885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183" y="495300"/>
            <a:ext cx="838883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System Architecture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018" y="2171700"/>
            <a:ext cx="17526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system uses HTML, CSS, JavaScript, and Django templates to create a clean and user-friendly interface where users can easily register, log in, and request or donate blood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Django backend takes care of all the main tasks, like handling form submissions, checking user input, and matching donors with recipients based on their blood type and location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All important information such as </a:t>
            </a:r>
            <a:r>
              <a:rPr lang="en-US" sz="3200" dirty="0" smtClean="0"/>
              <a:t>users, donor and recipient details are </a:t>
            </a:r>
            <a:r>
              <a:rPr lang="en-US" sz="3200" dirty="0"/>
              <a:t>safely stored in a SQLite3 database for quick and reliable access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Once a request is submitted, the system displays a list of matching donors to the recipient, based on the selected blood type and location, so they can contact donors directly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There’s also an admin panel where authorized users can manage </a:t>
            </a:r>
            <a:r>
              <a:rPr lang="en-US" sz="3200" dirty="0" smtClean="0"/>
              <a:t>accounts and </a:t>
            </a:r>
            <a:r>
              <a:rPr lang="en-US" sz="3200" dirty="0"/>
              <a:t>keep track of overall system activity.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943100"/>
            <a:ext cx="14478000" cy="807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19800" y="419100"/>
            <a:ext cx="53925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 smtClean="0"/>
              <a:t>Service Page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46520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97)"/>
          <p:cNvPicPr/>
          <p:nvPr/>
        </p:nvPicPr>
        <p:blipFill rotWithShape="1">
          <a:blip r:embed="rId2"/>
          <a:srcRect t="351"/>
          <a:stretch/>
        </p:blipFill>
        <p:spPr>
          <a:xfrm>
            <a:off x="4495800" y="1971139"/>
            <a:ext cx="8229600" cy="82015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0" y="1104900"/>
            <a:ext cx="1847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000" dirty="0"/>
          </a:p>
        </p:txBody>
      </p:sp>
      <p:sp>
        <p:nvSpPr>
          <p:cNvPr id="4" name="Rectangle 3"/>
          <p:cNvSpPr/>
          <p:nvPr/>
        </p:nvSpPr>
        <p:spPr>
          <a:xfrm>
            <a:off x="6008573" y="647700"/>
            <a:ext cx="520405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dirty="0"/>
              <a:t>Donor Form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(98)[1](1)"/>
          <p:cNvPicPr/>
          <p:nvPr/>
        </p:nvPicPr>
        <p:blipFill>
          <a:blip r:embed="rId2"/>
          <a:stretch>
            <a:fillRect/>
          </a:stretch>
        </p:blipFill>
        <p:spPr>
          <a:xfrm>
            <a:off x="4038600" y="1326903"/>
            <a:ext cx="9829800" cy="8928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24600" y="3464"/>
            <a:ext cx="646856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dirty="0"/>
              <a:t>Recipient Form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82467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790700"/>
            <a:ext cx="13182600" cy="83629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11153" y="266700"/>
            <a:ext cx="44274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 smtClean="0"/>
              <a:t>Donor List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78945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0" y="1104900"/>
            <a:ext cx="1847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000" dirty="0"/>
          </a:p>
        </p:txBody>
      </p:sp>
      <p:sp>
        <p:nvSpPr>
          <p:cNvPr id="4" name="Rectangle 3"/>
          <p:cNvSpPr/>
          <p:nvPr/>
        </p:nvSpPr>
        <p:spPr>
          <a:xfrm>
            <a:off x="5638800" y="647701"/>
            <a:ext cx="780264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dirty="0" smtClean="0"/>
              <a:t>Registered Donors</a:t>
            </a:r>
            <a:endParaRPr lang="en-US" sz="8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71140"/>
            <a:ext cx="17297400" cy="831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9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05400" y="284018"/>
            <a:ext cx="90846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 smtClean="0"/>
              <a:t>Registered Recipients</a:t>
            </a:r>
            <a:endParaRPr lang="en-US" sz="8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90139"/>
            <a:ext cx="16611600" cy="843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4781" y="495300"/>
            <a:ext cx="775564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Key Functionalities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018" y="2171700"/>
            <a:ext cx="17526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Users can register and log in as </a:t>
            </a:r>
            <a:r>
              <a:rPr lang="en-US" sz="3200" dirty="0" smtClean="0"/>
              <a:t>donor and recipient.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Recipients can submit blood requests </a:t>
            </a:r>
            <a:r>
              <a:rPr lang="en-US" sz="3200" dirty="0" smtClean="0"/>
              <a:t>by filling up the form.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system matches and displays a list of suitable donors based on blood type and location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Admins can manage users, verify requests, and oversee the system activities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Users can search for donors by blood group and location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All user and request data is stored securely in a SQLite3 database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interface is responsive and user-friendly, built with Django templates, HTML, CSS, and JavaScript.</a:t>
            </a:r>
          </a:p>
        </p:txBody>
      </p:sp>
    </p:spTree>
    <p:extLst>
      <p:ext uri="{BB962C8B-B14F-4D97-AF65-F5344CB8AC3E}">
        <p14:creationId xmlns:p14="http://schemas.microsoft.com/office/powerpoint/2010/main" val="198364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018" y="571500"/>
            <a:ext cx="987802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Deployment and Hosting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018" y="2171700"/>
            <a:ext cx="17526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Local server testing performed using Django’s built-in development server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Django backend handles application logic, </a:t>
            </a:r>
            <a:r>
              <a:rPr lang="en-US" sz="3200" dirty="0" smtClean="0"/>
              <a:t>user, donor and recipient management </a:t>
            </a:r>
            <a:r>
              <a:rPr lang="en-US" sz="3200" dirty="0"/>
              <a:t>and donor-recipient matching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SQLite database used locally for storing </a:t>
            </a:r>
            <a:r>
              <a:rPr lang="en-US" sz="3200" dirty="0" smtClean="0"/>
              <a:t>user, donor and recipient data.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Static files (CSS, JS, images) and media served locally through Django’s static file </a:t>
            </a:r>
            <a:r>
              <a:rPr lang="en-US" sz="3200" dirty="0" smtClean="0"/>
              <a:t>configuration.</a:t>
            </a:r>
          </a:p>
          <a:p>
            <a:pPr algn="just"/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80342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0874" y="495300"/>
            <a:ext cx="894347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Future Enhancements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018" y="2171700"/>
            <a:ext cx="17526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b="1" dirty="0"/>
              <a:t>SMS and Email Notifications:</a:t>
            </a:r>
            <a:r>
              <a:rPr lang="en-US" sz="3200" dirty="0"/>
              <a:t> Enable automated alerts to donors and recipients about new blood requests, matches, and updates for faster communication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b="1" dirty="0"/>
              <a:t>Donation History Tracking:</a:t>
            </a:r>
            <a:r>
              <a:rPr lang="en-US" sz="3200" dirty="0"/>
              <a:t> Store and display past donation records for users and hospitals to improve tracking and record-keeping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b="1" dirty="0"/>
              <a:t>Geo-location Integration:</a:t>
            </a:r>
            <a:r>
              <a:rPr lang="en-US" sz="3200" dirty="0"/>
              <a:t> Use map-based services to locate nearby donors and blood banks, making emergency response quicker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b="1" dirty="0"/>
              <a:t>Admin Dashboard with Analytics:</a:t>
            </a:r>
            <a:r>
              <a:rPr lang="en-US" sz="3200" dirty="0"/>
              <a:t> Provide insights into donation trends, user engagement, and system performance for better management.</a:t>
            </a:r>
          </a:p>
        </p:txBody>
      </p:sp>
    </p:spTree>
    <p:extLst>
      <p:ext uri="{BB962C8B-B14F-4D97-AF65-F5344CB8AC3E}">
        <p14:creationId xmlns:p14="http://schemas.microsoft.com/office/powerpoint/2010/main" val="57960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1500"/>
            <a:ext cx="455765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Conclusion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018" y="2171700"/>
            <a:ext cx="17526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system successfully connects donors, recipients, and admins through a centralized platform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It simplifies the blood donation process with easy registration, request handling, and donor matching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use of Django and SQLite ensures efficient backend management and secure data storage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Displaying matched donor lists to recipients improves accessibility and response time during emergencies</a:t>
            </a:r>
            <a:r>
              <a:rPr lang="en-US" sz="32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32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/>
              <a:t>The platform lays a solid foundation for future improvements like SMS alerts, location tracking, and analytics integration.</a:t>
            </a:r>
          </a:p>
        </p:txBody>
      </p:sp>
    </p:spTree>
    <p:extLst>
      <p:ext uri="{BB962C8B-B14F-4D97-AF65-F5344CB8AC3E}">
        <p14:creationId xmlns:p14="http://schemas.microsoft.com/office/powerpoint/2010/main" val="856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266700"/>
            <a:ext cx="472757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0" dirty="0" smtClean="0">
                <a:latin typeface="Bahnschrift SemiBold SemiConden" panose="020B0502040204020203" pitchFamily="34" charset="0"/>
              </a:rPr>
              <a:t>References</a:t>
            </a:r>
            <a:endParaRPr lang="en-US" sz="8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621312"/>
            <a:ext cx="17526000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Ali, K. A., Jahan, I., </a:t>
            </a:r>
            <a:r>
              <a:rPr lang="en-US" sz="2800" dirty="0" err="1"/>
              <a:t>Ariful</a:t>
            </a:r>
            <a:r>
              <a:rPr lang="en-US" sz="2800" dirty="0"/>
              <a:t>, M. I., &amp; </a:t>
            </a:r>
            <a:r>
              <a:rPr lang="en-US" sz="2800" dirty="0" err="1"/>
              <a:t>Shafa</a:t>
            </a:r>
            <a:r>
              <a:rPr lang="en-US" sz="2800" dirty="0"/>
              <a:t>-at, M. P. (2015). Blood Donation Management System. </a:t>
            </a:r>
            <a:r>
              <a:rPr lang="en-US" sz="2800" i="1" dirty="0"/>
              <a:t>American Journal of Engineering </a:t>
            </a:r>
            <a:r>
              <a:rPr lang="en-US" sz="2800" i="1" dirty="0" smtClean="0"/>
              <a:t>Research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/>
              <a:t>American Red Cross. (2017). Retrieved from </a:t>
            </a:r>
            <a:r>
              <a:rPr lang="en-US" sz="2800" dirty="0" err="1"/>
              <a:t>redcross</a:t>
            </a:r>
            <a:r>
              <a:rPr lang="en-US" sz="2800" dirty="0"/>
              <a:t>: </a:t>
            </a:r>
            <a:r>
              <a:rPr lang="en-US" sz="2800" dirty="0">
                <a:hlinkClick r:id="rId2"/>
              </a:rPr>
              <a:t>https://www.redcross.org</a:t>
            </a:r>
            <a:r>
              <a:rPr lang="en-US" sz="2800" dirty="0" smtClean="0">
                <a:hlinkClick r:id="rId2"/>
              </a:rPr>
              <a:t>/</a:t>
            </a:r>
            <a:endParaRPr lang="en-US" sz="2800" dirty="0" smtClean="0"/>
          </a:p>
          <a:p>
            <a:pPr algn="just"/>
            <a:endParaRPr lang="en-GB" sz="2800" dirty="0" smtClean="0"/>
          </a:p>
          <a:p>
            <a:pPr algn="just"/>
            <a:r>
              <a:rPr lang="en-US" sz="2800" dirty="0"/>
              <a:t>Anish Hamlin, M. R., &amp; Mayan, J. A. (2016). </a:t>
            </a:r>
            <a:r>
              <a:rPr lang="en-US" sz="2800" dirty="0" err="1"/>
              <a:t>Blod</a:t>
            </a:r>
            <a:r>
              <a:rPr lang="en-US" sz="2800" dirty="0"/>
              <a:t> Donation and Life Saver-Blood Donation app. </a:t>
            </a:r>
            <a:r>
              <a:rPr lang="en-US" sz="2800" i="1" dirty="0"/>
              <a:t>International Conference on Control, Instrumentation, Communication and Computational Technologies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smtClean="0"/>
              <a:t>Chen</a:t>
            </a:r>
            <a:r>
              <a:rPr lang="en-US" sz="2800" dirty="0"/>
              <a:t>, L., &amp; Wang, Y. (2019). </a:t>
            </a:r>
            <a:r>
              <a:rPr lang="en-US" sz="2800" dirty="0" err="1"/>
              <a:t>BloodLink</a:t>
            </a:r>
            <a:r>
              <a:rPr lang="en-US" sz="2800" dirty="0"/>
              <a:t> Mobile App: Geolocation-based Blood Donation for Emergency Requests. </a:t>
            </a:r>
            <a:r>
              <a:rPr lang="en-US" sz="2800" dirty="0" smtClean="0"/>
              <a:t>International</a:t>
            </a:r>
            <a:r>
              <a:rPr lang="en-US" sz="2800" i="1" dirty="0" smtClean="0"/>
              <a:t> </a:t>
            </a:r>
            <a:r>
              <a:rPr lang="en-US" sz="2800" i="1" dirty="0"/>
              <a:t>Journal of Mobile Computing and Communications</a:t>
            </a:r>
            <a:r>
              <a:rPr lang="en-US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US" sz="2800" dirty="0"/>
              <a:t>Hamid, K., Aziz, A., &amp; </a:t>
            </a:r>
            <a:r>
              <a:rPr lang="en-US" sz="2800" dirty="0" err="1"/>
              <a:t>Yusri</a:t>
            </a:r>
            <a:r>
              <a:rPr lang="en-US" sz="2800" dirty="0"/>
              <a:t>, N. N. (2015). Development of Blood Bank Management System. </a:t>
            </a:r>
            <a:r>
              <a:rPr lang="en-US" sz="2800" i="1" dirty="0"/>
              <a:t>World Conference on Technology, Innovation and Entrepreneurship</a:t>
            </a:r>
            <a:r>
              <a:rPr lang="en-US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US" sz="2800" dirty="0"/>
              <a:t>Jones, R. (2018). </a:t>
            </a:r>
            <a:r>
              <a:rPr lang="en-US" sz="2800" dirty="0" err="1"/>
              <a:t>BloodBanker</a:t>
            </a:r>
            <a:r>
              <a:rPr lang="en-US" sz="2800" dirty="0"/>
              <a:t>: A Web-Based Platform for Blood Donor Matching. </a:t>
            </a:r>
            <a:r>
              <a:rPr lang="en-US" sz="2800" i="1" dirty="0"/>
              <a:t>Journal of Health Informatics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Shore, J., &amp; </a:t>
            </a:r>
            <a:r>
              <a:rPr lang="en-US" sz="2800" dirty="0" err="1"/>
              <a:t>Waden</a:t>
            </a:r>
            <a:r>
              <a:rPr lang="en-US" sz="2800" dirty="0"/>
              <a:t>, S. (2021). </a:t>
            </a:r>
            <a:r>
              <a:rPr lang="en-US" sz="2800" i="1" dirty="0"/>
              <a:t>The Art of Agile Development.</a:t>
            </a:r>
            <a:r>
              <a:rPr lang="en-US" sz="2800" dirty="0"/>
              <a:t> O'Reilly Media, Inc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err="1"/>
              <a:t>Thapa</a:t>
            </a:r>
            <a:r>
              <a:rPr lang="en-US" sz="2800" dirty="0"/>
              <a:t>, R., &amp; Shrestha, S. (2010). SMS-Based Blood Donation System. </a:t>
            </a:r>
            <a:r>
              <a:rPr lang="en-US" sz="2800" i="1" dirty="0"/>
              <a:t>International Journal of Computer Science and Technology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endParaRPr lang="en-US" sz="2800" dirty="0" smtClean="0"/>
          </a:p>
          <a:p>
            <a:pPr algn="just"/>
            <a:endParaRPr lang="en-US" sz="2800" dirty="0"/>
          </a:p>
          <a:p>
            <a:pPr algn="just"/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53673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4500"/>
              </a:srgbClr>
            </a:gs>
            <a:gs pos="50000">
              <a:srgbClr val="FF5400">
                <a:alpha val="60000"/>
              </a:srgbClr>
            </a:gs>
            <a:gs pos="100000">
              <a:srgbClr val="F1D0C0">
                <a:alpha val="21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6172061" cy="8229600"/>
          </a:xfrm>
          <a:custGeom>
            <a:avLst/>
            <a:gdLst/>
            <a:ahLst/>
            <a:cxnLst/>
            <a:rect l="l" t="t" r="r" b="b"/>
            <a:pathLst>
              <a:path w="16172061" h="8229600">
                <a:moveTo>
                  <a:pt x="0" y="0"/>
                </a:moveTo>
                <a:lnTo>
                  <a:pt x="16172061" y="0"/>
                </a:lnTo>
                <a:lnTo>
                  <a:pt x="1617206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t="-98009" r="-362" b="-9800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410200" y="4305300"/>
            <a:ext cx="8594545" cy="120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9"/>
              </a:lnSpc>
            </a:pPr>
            <a:r>
              <a:rPr lang="en-US" sz="9655" b="1" dirty="0">
                <a:solidFill>
                  <a:srgbClr val="AE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6567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1458</Words>
  <Application>Microsoft Office PowerPoint</Application>
  <PresentationFormat>Custom</PresentationFormat>
  <Paragraphs>183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Calibri</vt:lpstr>
      <vt:lpstr>Montserrat Bold</vt:lpstr>
      <vt:lpstr>Arial</vt:lpstr>
      <vt:lpstr>Wingdings</vt:lpstr>
      <vt:lpstr>Bahnschrift SemiBold SemiConden</vt:lpstr>
      <vt:lpstr>Helios</vt:lpstr>
      <vt:lpstr>Object Sans</vt:lpstr>
      <vt:lpstr>Object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Peach Pink and White Illustrated Blood Donation Benefits Medical Presentation</dc:title>
  <dc:creator>Dichhyant Shrestha</dc:creator>
  <cp:lastModifiedBy>user</cp:lastModifiedBy>
  <cp:revision>59</cp:revision>
  <dcterms:created xsi:type="dcterms:W3CDTF">2006-08-16T00:00:00Z</dcterms:created>
  <dcterms:modified xsi:type="dcterms:W3CDTF">2025-07-07T18:18:51Z</dcterms:modified>
  <dc:identifier>DAGsdUT50WY</dc:identifier>
</cp:coreProperties>
</file>